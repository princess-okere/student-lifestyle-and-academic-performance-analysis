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10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ncess-Okere/Student-Lifestyle-and-Academic-Performance-Analysi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incess-Okere/Student-Lifestyle-and-Academic-Performance-Analysi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29184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337458"/>
            <a:ext cx="1645920" cy="1645920"/>
          </a:xfrm>
          <a:prstGeom prst="line">
            <a:avLst/>
          </a:prstGeom>
          <a:solidFill>
            <a:srgbClr val="4CAF50">
              <a:alpha val="15000"/>
            </a:srgbClr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54777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0" y="4566013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Princess Ohiri-Okere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8826" y="4886053"/>
            <a:ext cx="2035628" cy="0"/>
          </a:xfrm>
          <a:prstGeom prst="line">
            <a:avLst/>
          </a:prstGeom>
          <a:noFill/>
          <a:ln w="1016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57201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Lifestyle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Academic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2228851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CAF50"/>
                </a:solidFill>
              </a:rPr>
              <a:t>Analysis Dashboard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13658" y="2966358"/>
            <a:ext cx="8456022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914" y="3023508"/>
            <a:ext cx="68471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Exploring the relationship between student lifestyle habits and academic performance across 2,000 students.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at a Glance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91896"/>
            <a:ext cx="8321040" cy="0"/>
          </a:xfrm>
          <a:prstGeom prst="line">
            <a:avLst/>
          </a:prstGeom>
          <a:noFill/>
          <a:ln w="1524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39"/>
            <a:ext cx="4206240" cy="3141617"/>
          </a:xfrm>
          <a:prstGeom prst="roundRect">
            <a:avLst>
              <a:gd name="adj" fmla="val 6897"/>
            </a:avLst>
          </a:prstGeom>
          <a:noFill/>
          <a:ln w="15240">
            <a:solidFill>
              <a:srgbClr val="4CAF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78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469571"/>
            <a:ext cx="384048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Investigate which student lifestyle habits most strongly influence academic performance (GPA), and by how much — using Excel, Power Query, and interactive dashboard design.</a:t>
            </a:r>
          </a:p>
        </p:txBody>
      </p:sp>
      <p:sp>
        <p:nvSpPr>
          <p:cNvPr id="9" name="Text 7"/>
          <p:cNvSpPr/>
          <p:nvPr/>
        </p:nvSpPr>
        <p:spPr>
          <a:xfrm>
            <a:off x="5029200" y="10789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SCOPE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469571"/>
            <a:ext cx="3520440" cy="24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2,000 synthetic university students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original columns · 0 missing values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lifestyle activity columns · GPA · Stress Level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engineered columns via Power Query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217B1F25-1182-26AC-404C-56AB964D1505}"/>
              </a:ext>
            </a:extLst>
          </p:cNvPr>
          <p:cNvSpPr/>
          <p:nvPr/>
        </p:nvSpPr>
        <p:spPr>
          <a:xfrm>
            <a:off x="4783183" y="1005839"/>
            <a:ext cx="4206240" cy="3141615"/>
          </a:xfrm>
          <a:prstGeom prst="roundRect">
            <a:avLst>
              <a:gd name="adj" fmla="val 6897"/>
            </a:avLst>
          </a:prstGeom>
          <a:noFill/>
          <a:ln w="15240">
            <a:solidFill>
              <a:srgbClr val="4CAF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65FAC7-3EE9-E8FD-A873-27B76A97F8CD}"/>
              </a:ext>
            </a:extLst>
          </p:cNvPr>
          <p:cNvSpPr txBox="1"/>
          <p:nvPr/>
        </p:nvSpPr>
        <p:spPr>
          <a:xfrm>
            <a:off x="411480" y="4404049"/>
            <a:ext cx="857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analysis and working file available at: 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View Full Work Here</a:t>
            </a:r>
            <a:endParaRPr lang="en-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Overview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 interactive · Three slicers · Five KPI cards · Eight chart panels</a:t>
            </a:r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15240">
            <a:solidFill>
              <a:srgbClr val="4CAF50"/>
            </a:solidFill>
            <a:prstDash val="solid"/>
          </a:ln>
        </p:spPr>
      </p:sp>
      <p:pic>
        <p:nvPicPr>
          <p:cNvPr id="6" name="Image 0" descr="/mnt/user-data/uploads/Dashboard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024128"/>
            <a:ext cx="7829317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Dashboard  ·  Excel 2019  ·  Power Query  ·  Slicers</a:t>
            </a:r>
            <a:endParaRPr lang="en-US" sz="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60BB8C7F-ECDC-1B2F-DF67-2497003EBFF0}"/>
              </a:ext>
            </a:extLst>
          </p:cNvPr>
          <p:cNvSpPr/>
          <p:nvPr/>
        </p:nvSpPr>
        <p:spPr>
          <a:xfrm>
            <a:off x="251926" y="58628"/>
            <a:ext cx="4310743" cy="384048"/>
          </a:xfrm>
          <a:prstGeom prst="roundRect">
            <a:avLst>
              <a:gd name="adj" fmla="val 22222"/>
            </a:avLst>
          </a:prstGeom>
          <a:solidFill>
            <a:srgbClr val="00B050"/>
          </a:solidFill>
          <a:ln/>
        </p:spPr>
      </p:sp>
      <p:sp>
        <p:nvSpPr>
          <p:cNvPr id="9" name="Text 6"/>
          <p:cNvSpPr/>
          <p:nvPr/>
        </p:nvSpPr>
        <p:spPr>
          <a:xfrm>
            <a:off x="5952744" y="458743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81621" y="725685"/>
            <a:ext cx="2779776" cy="3359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SzPct val="100000"/>
            </a:pPr>
            <a:endParaRPr lang="en-US" sz="1200" b="1" dirty="0">
              <a:solidFill>
                <a:srgbClr val="1E25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2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Hours is the ONLY activity with a positive GPA impact (+0.61 pts).</a:t>
            </a:r>
          </a:p>
          <a:p>
            <a:pPr marL="342900" indent="-342900" algn="l">
              <a:buSzPct val="100000"/>
              <a:buChar char="•"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2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other activity — Physical Activity, Social, Extracurricular, Sleep — shows a neutral or negative net effect.</a:t>
            </a:r>
          </a:p>
          <a:p>
            <a:pPr marL="342900" indent="-342900" algn="l">
              <a:buSzPct val="100000"/>
              <a:buChar char="•"/>
            </a:pPr>
            <a:endParaRPr lang="en-US" sz="1200" b="1" dirty="0">
              <a:solidFill>
                <a:srgbClr val="1E25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performance is not driven by balance or variety of activities.</a:t>
            </a:r>
          </a:p>
          <a:p>
            <a:pPr marL="342900" indent="-342900">
              <a:buSzPct val="100000"/>
              <a:buChar char="•"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driven by deliberate concentration of time on study.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9DB88F-A8AF-C61E-46FE-E8F850E6C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63" y="714775"/>
            <a:ext cx="5246996" cy="23244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6827F0-662A-A5DF-F266-4F4D88BED5D0}"/>
              </a:ext>
            </a:extLst>
          </p:cNvPr>
          <p:cNvSpPr txBox="1"/>
          <p:nvPr/>
        </p:nvSpPr>
        <p:spPr>
          <a:xfrm>
            <a:off x="251926" y="42566"/>
            <a:ext cx="5019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GPA distribution across activities</a:t>
            </a:r>
            <a:endParaRPr lang="en-NG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61C67FA-C752-5D22-87E9-F6027CB1B30D}"/>
              </a:ext>
            </a:extLst>
          </p:cNvPr>
          <p:cNvCxnSpPr>
            <a:cxnSpLocks/>
          </p:cNvCxnSpPr>
          <p:nvPr/>
        </p:nvCxnSpPr>
        <p:spPr>
          <a:xfrm>
            <a:off x="5952744" y="725685"/>
            <a:ext cx="1605052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>
            <a:extLst>
              <a:ext uri="{FF2B5EF4-FFF2-40B4-BE49-F238E27FC236}">
                <a16:creationId xmlns:a16="http://schemas.microsoft.com/office/drawing/2014/main" id="{2A7C42A4-B8E9-06A2-0DF3-7DD89BFF33A6}"/>
              </a:ext>
            </a:extLst>
          </p:cNvPr>
          <p:cNvSpPr/>
          <p:nvPr/>
        </p:nvSpPr>
        <p:spPr>
          <a:xfrm>
            <a:off x="261257" y="137160"/>
            <a:ext cx="2687216" cy="384048"/>
          </a:xfrm>
          <a:prstGeom prst="roundRect">
            <a:avLst>
              <a:gd name="adj" fmla="val 22222"/>
            </a:avLst>
          </a:prstGeom>
          <a:solidFill>
            <a:srgbClr val="00B050"/>
          </a:solidFill>
          <a:ln/>
        </p:spPr>
      </p:sp>
      <p:pic>
        <p:nvPicPr>
          <p:cNvPr id="7" name="Image 0" descr="/mnt/user-data/uploads/GPA_vs_Study_Hou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654" y="812090"/>
            <a:ext cx="4992811" cy="16653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91324" y="496575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98902" y="875934"/>
            <a:ext cx="3375443" cy="318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GPA rises with every additional study hour — no exceptions across the 5–10 hr range.</a:t>
            </a:r>
          </a:p>
          <a:p>
            <a:pPr marL="342900" indent="-342900" algn="l">
              <a:buSzPct val="10000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GPA climbs from 2.81 (5–6 hrs) to 3.42 (9–10 hours).</a:t>
            </a:r>
          </a:p>
          <a:p>
            <a:pPr marL="342900" indent="-342900" algn="l">
              <a:buSzPct val="100000"/>
              <a:buChar char="•"/>
            </a:pPr>
            <a:endParaRPr lang="en-US" sz="1600" b="1" dirty="0">
              <a:solidFill>
                <a:srgbClr val="1E25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is linear and consistent — no plateau, no threshold, no diminishing returns within the observed range.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CE5C1F-7740-9BF9-6359-38EB862AB3D2}"/>
              </a:ext>
            </a:extLst>
          </p:cNvPr>
          <p:cNvSpPr txBox="1"/>
          <p:nvPr/>
        </p:nvSpPr>
        <p:spPr>
          <a:xfrm>
            <a:off x="269654" y="143852"/>
            <a:ext cx="2687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GPA Vs Study Hour</a:t>
            </a:r>
            <a:endParaRPr lang="en-NG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53F741-A24A-D1CD-AE8B-560E2C5823E6}"/>
              </a:ext>
            </a:extLst>
          </p:cNvPr>
          <p:cNvCxnSpPr>
            <a:cxnSpLocks/>
          </p:cNvCxnSpPr>
          <p:nvPr/>
        </p:nvCxnSpPr>
        <p:spPr>
          <a:xfrm flipV="1">
            <a:off x="5707349" y="759835"/>
            <a:ext cx="1719819" cy="722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>
            <a:extLst>
              <a:ext uri="{FF2B5EF4-FFF2-40B4-BE49-F238E27FC236}">
                <a16:creationId xmlns:a16="http://schemas.microsoft.com/office/drawing/2014/main" id="{BB331B9F-470F-A5E6-245D-A650409DA457}"/>
              </a:ext>
            </a:extLst>
          </p:cNvPr>
          <p:cNvSpPr/>
          <p:nvPr/>
        </p:nvSpPr>
        <p:spPr>
          <a:xfrm>
            <a:off x="261257" y="137160"/>
            <a:ext cx="3172408" cy="384048"/>
          </a:xfrm>
          <a:prstGeom prst="roundRect">
            <a:avLst>
              <a:gd name="adj" fmla="val 22222"/>
            </a:avLst>
          </a:prstGeom>
          <a:solidFill>
            <a:srgbClr val="00B0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28635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Physical Activity &amp; GPA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23560" y="502920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74969" y="862593"/>
            <a:ext cx="3607774" cy="387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GPA falls gradually as physical activity hours increase — from 3.27 (0–1 hr) to 2.98 (&gt;6 </a:t>
            </a:r>
            <a:r>
              <a:rPr lang="en-US" sz="1600" b="1" dirty="0" err="1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hrs</a:t>
            </a: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l">
              <a:buSzPct val="10000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decline is slow and progressive, not sudden.</a:t>
            </a:r>
          </a:p>
          <a:p>
            <a:pPr marL="342900" indent="-342900" algn="l">
              <a:buSzPct val="100000"/>
              <a:buChar char="•"/>
            </a:pPr>
            <a:endParaRPr lang="en-US" sz="1600" b="1" dirty="0">
              <a:solidFill>
                <a:srgbClr val="1E25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activity is not academically harmful. It competes with finite time. Every hour exercising is an hour not studying — and study hours drive GPA.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5C50C7-62B4-DFCF-0EDF-7E1B37785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2594"/>
            <a:ext cx="4160520" cy="265784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48990A-2E55-5871-1045-B34E7952DBB1}"/>
              </a:ext>
            </a:extLst>
          </p:cNvPr>
          <p:cNvCxnSpPr>
            <a:cxnSpLocks/>
          </p:cNvCxnSpPr>
          <p:nvPr/>
        </p:nvCxnSpPr>
        <p:spPr>
          <a:xfrm flipV="1">
            <a:off x="5549661" y="744496"/>
            <a:ext cx="1719819" cy="722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BF8320-F600-D479-0815-F1BA0F78C56F}"/>
              </a:ext>
            </a:extLst>
          </p:cNvPr>
          <p:cNvSpPr/>
          <p:nvPr/>
        </p:nvSpPr>
        <p:spPr>
          <a:xfrm>
            <a:off x="326572" y="146491"/>
            <a:ext cx="3945916" cy="38404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411481" y="137160"/>
            <a:ext cx="3945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Stress Profile of High Performers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0" descr="/mnt/user-data/uploads/Stress_Profile_of_High_perform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6572" y="771597"/>
            <a:ext cx="4846320" cy="22897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88152" y="41605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3507" y="920887"/>
            <a:ext cx="3299864" cy="33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96.8% of High Performers (GPA ≥ 3.5) experience High Stress.</a:t>
            </a:r>
          </a:p>
          <a:p>
            <a:pPr marL="342900" indent="-342900" algn="l">
              <a:buSzPct val="10000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 all students, only 51.5% are High Stress — nearly half the rate.</a:t>
            </a:r>
          </a:p>
          <a:p>
            <a:pPr marL="342900" indent="-342900" algn="l">
              <a:buSzPct val="100000"/>
              <a:buChar char="•"/>
            </a:pPr>
            <a:endParaRPr lang="en-US" sz="1600" b="1" dirty="0">
              <a:solidFill>
                <a:srgbClr val="1E25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stress is a feature of top academic performance in this dataset. Academic excellence appears to come with a consistent pressure cost.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88152" y="4114800"/>
            <a:ext cx="2779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endParaRPr lang="en-US" sz="85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11A9D8-5A3E-AC7C-E5D9-EE7ACD7755B7}"/>
              </a:ext>
            </a:extLst>
          </p:cNvPr>
          <p:cNvCxnSpPr>
            <a:cxnSpLocks/>
          </p:cNvCxnSpPr>
          <p:nvPr/>
        </p:nvCxnSpPr>
        <p:spPr>
          <a:xfrm flipV="1">
            <a:off x="5788152" y="664856"/>
            <a:ext cx="1719819" cy="722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AB9E83-B28F-A4DA-3315-71202D425AD2}"/>
              </a:ext>
            </a:extLst>
          </p:cNvPr>
          <p:cNvSpPr/>
          <p:nvPr/>
        </p:nvSpPr>
        <p:spPr>
          <a:xfrm>
            <a:off x="326572" y="137160"/>
            <a:ext cx="2920481" cy="38404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273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Activity &amp; GPA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77604" y="883512"/>
            <a:ext cx="3439823" cy="359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Socially active students remain Above Average in GPA regardless of social hours.</a:t>
            </a:r>
          </a:p>
          <a:p>
            <a:pPr marL="342900" indent="-342900" algn="l">
              <a:buSzPct val="10000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GPA decline across the full social hours range is just 0.07 points.</a:t>
            </a:r>
          </a:p>
          <a:p>
            <a:pPr marL="342900" indent="-342900" algn="l">
              <a:buSzPct val="100000"/>
              <a:buChar char="•"/>
            </a:pPr>
            <a:endParaRPr lang="en-US" sz="1600" dirty="0">
              <a:solidFill>
                <a:srgbClr val="1E25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600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cultural assumption that socializing damages grades is not supported by this data. Students can maintain strong performance while remaining socially active.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88152" y="4114800"/>
            <a:ext cx="2779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7E0AE5-B875-B79D-78DD-94CEDDC3B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2" y="891911"/>
            <a:ext cx="3943900" cy="2638793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DF960DBE-8455-4155-4DB2-339DB6394165}"/>
              </a:ext>
            </a:extLst>
          </p:cNvPr>
          <p:cNvSpPr/>
          <p:nvPr/>
        </p:nvSpPr>
        <p:spPr>
          <a:xfrm>
            <a:off x="5788152" y="41605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135629-758C-EDBE-D374-6172A276E81A}"/>
              </a:ext>
            </a:extLst>
          </p:cNvPr>
          <p:cNvCxnSpPr>
            <a:cxnSpLocks/>
          </p:cNvCxnSpPr>
          <p:nvPr/>
        </p:nvCxnSpPr>
        <p:spPr>
          <a:xfrm flipV="1">
            <a:off x="5788152" y="664856"/>
            <a:ext cx="1719819" cy="722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0702F9-E77B-3286-4B16-064E97088A94}"/>
              </a:ext>
            </a:extLst>
          </p:cNvPr>
          <p:cNvSpPr/>
          <p:nvPr/>
        </p:nvSpPr>
        <p:spPr>
          <a:xfrm>
            <a:off x="326572" y="137160"/>
            <a:ext cx="4068146" cy="38404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3983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Does the Balanced Student Exist?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88151" y="827797"/>
            <a:ext cx="3108959" cy="42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0% of High Performers achieve a genuinely balanced lifestyle.</a:t>
            </a:r>
          </a:p>
          <a:p>
            <a:pPr marL="342900" indent="-342900" algn="l">
              <a:buSzPct val="100000"/>
              <a:buChar char="•"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1.2% of Above Average students meet the balance criteria.</a:t>
            </a:r>
          </a:p>
          <a:p>
            <a:pPr marL="342900" indent="-342900" algn="l">
              <a:buSzPct val="100000"/>
              <a:buChar char="•"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Below Average students show the highest balance rate (6.5%).</a:t>
            </a:r>
          </a:p>
          <a:p>
            <a:pPr marL="342900" indent="-342900" algn="l">
              <a:buSzPct val="100000"/>
              <a:buChar char="•"/>
            </a:pPr>
            <a:endParaRPr lang="en-US" sz="1400" b="1" dirty="0">
              <a:solidFill>
                <a:srgbClr val="1E25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4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 lifestyle balance and peak academic performance are mutually exclusive in this dataset. Top performance requires deliberate concentration, not even distribution.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6571" y="3479292"/>
            <a:ext cx="2833045" cy="1005840"/>
          </a:xfrm>
          <a:prstGeom prst="roundRect">
            <a:avLst>
              <a:gd name="adj" fmla="val 6400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5391" y="3479292"/>
            <a:ext cx="1187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3205" y="3717503"/>
            <a:ext cx="2779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900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 defined as Activity StdDev ≤ 1.5 across Study, Social, Physical Activity &amp; Extracurricular hours per student.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88152" y="4151376"/>
            <a:ext cx="27797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0599B42-95C1-62F6-F5FA-18A429D2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49" y="772188"/>
            <a:ext cx="5243719" cy="2553056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B9CC1B2A-C59E-A5FF-7A21-5263128E06B0}"/>
              </a:ext>
            </a:extLst>
          </p:cNvPr>
          <p:cNvSpPr/>
          <p:nvPr/>
        </p:nvSpPr>
        <p:spPr>
          <a:xfrm>
            <a:off x="5952744" y="32792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5F2271-C4EE-B224-B428-8F70FC3686C4}"/>
              </a:ext>
            </a:extLst>
          </p:cNvPr>
          <p:cNvCxnSpPr>
            <a:cxnSpLocks/>
          </p:cNvCxnSpPr>
          <p:nvPr/>
        </p:nvCxnSpPr>
        <p:spPr>
          <a:xfrm flipV="1">
            <a:off x="5952744" y="576732"/>
            <a:ext cx="1719819" cy="722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61257" y="137160"/>
            <a:ext cx="3488716" cy="384048"/>
          </a:xfrm>
          <a:prstGeom prst="roundRect">
            <a:avLst>
              <a:gd name="adj" fmla="val 22222"/>
            </a:avLst>
          </a:prstGeom>
          <a:solidFill>
            <a:srgbClr val="00B0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3488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Drives Student Stress?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1999" y="953552"/>
            <a:ext cx="4310743" cy="360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Stress students dedicate 50.2% of productive hours to study vs 34.6% for Low Stress.</a:t>
            </a:r>
          </a:p>
          <a:p>
            <a:pPr marL="342900" indent="-342900" algn="l">
              <a:buSzPct val="10000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Stress student study ~3 more hours/day than Low Stress peers.</a:t>
            </a:r>
          </a:p>
          <a:p>
            <a:pPr marL="342900" indent="-342900" algn="l">
              <a:buSzPct val="10000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endParaRPr lang="en-US" sz="1600" b="1" dirty="0">
              <a:solidFill>
                <a:srgbClr val="1E25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600" b="1" dirty="0">
                <a:solidFill>
                  <a:srgbClr val="1E25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 is driven by study concentration, not by juggling many activities. The allocation of time — not the total — is what separates stress levels.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88152" y="4206240"/>
            <a:ext cx="27797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B09F4A-DC3D-CF1C-2E49-2A6F153AC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818382"/>
            <a:ext cx="3572374" cy="2648320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70F3D071-13BC-BC5D-8550-96D18CF649DE}"/>
              </a:ext>
            </a:extLst>
          </p:cNvPr>
          <p:cNvSpPr/>
          <p:nvPr/>
        </p:nvSpPr>
        <p:spPr>
          <a:xfrm>
            <a:off x="4892787" y="448716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8DFCA5-0DB1-FBC8-799C-43F7EA258219}"/>
              </a:ext>
            </a:extLst>
          </p:cNvPr>
          <p:cNvCxnSpPr>
            <a:cxnSpLocks/>
          </p:cNvCxnSpPr>
          <p:nvPr/>
        </p:nvCxnSpPr>
        <p:spPr>
          <a:xfrm flipV="1">
            <a:off x="4892787" y="697520"/>
            <a:ext cx="1719819" cy="722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Analytical Skills Demonstrated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 and reasoning applied throughout this project</a:t>
            </a:r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1524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242B3D"/>
          </a:solidFill>
          <a:ln w="6350">
            <a:solidFill>
              <a:srgbClr val="2E36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051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Transformation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6072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Query: loading, type-setting, multi-step transformation pipeline</a:t>
            </a:r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242B3D"/>
          </a:solidFill>
          <a:ln w="6350">
            <a:solidFill>
              <a:srgbClr val="2E36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1709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meaningful columns derived from raw data with documented rationale</a:t>
            </a:r>
          </a:p>
        </p:txBody>
      </p:sp>
      <p:sp>
        <p:nvSpPr>
          <p:cNvPr id="11" name="Shape 9"/>
          <p:cNvSpPr/>
          <p:nvPr/>
        </p:nvSpPr>
        <p:spPr>
          <a:xfrm>
            <a:off x="411480" y="2304288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242B3D"/>
          </a:solidFill>
          <a:ln w="6350">
            <a:solidFill>
              <a:srgbClr val="2E36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2368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Reasoning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6072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deviation applied as a behavioural profiling metric; threshold validated against raw rows</a:t>
            </a:r>
          </a:p>
        </p:txBody>
      </p:sp>
      <p:sp>
        <p:nvSpPr>
          <p:cNvPr id="23" name="Shape 21"/>
          <p:cNvSpPr/>
          <p:nvPr/>
        </p:nvSpPr>
        <p:spPr>
          <a:xfrm>
            <a:off x="4846320" y="987552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242B3D"/>
          </a:solidFill>
          <a:ln w="6350">
            <a:solidFill>
              <a:srgbClr val="2E36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10912" y="10515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 Selection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10912" y="12618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Diverging bar, line, 100% stacked bar, clustered bar — matched to analytical question</a:t>
            </a:r>
          </a:p>
        </p:txBody>
      </p:sp>
      <p:sp>
        <p:nvSpPr>
          <p:cNvPr id="26" name="Shape 24"/>
          <p:cNvSpPr/>
          <p:nvPr/>
        </p:nvSpPr>
        <p:spPr>
          <a:xfrm>
            <a:off x="4846320" y="1645920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242B3D"/>
          </a:solidFill>
          <a:ln w="6350">
            <a:solidFill>
              <a:srgbClr val="2E36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10912" y="17099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Design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10912" y="19202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Single-screen interactive dashboard with 3 slicers, 5 KPI cards, static + dynamic charts</a:t>
            </a:r>
          </a:p>
        </p:txBody>
      </p:sp>
      <p:sp>
        <p:nvSpPr>
          <p:cNvPr id="32" name="Shape 30"/>
          <p:cNvSpPr/>
          <p:nvPr/>
        </p:nvSpPr>
        <p:spPr>
          <a:xfrm>
            <a:off x="4846320" y="2304288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242B3D"/>
          </a:solidFill>
          <a:ln w="6350">
            <a:solidFill>
              <a:srgbClr val="2E36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10912" y="23682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Validation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10912" y="25786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Independently identified misleading axis scaling, flawed threshold, and chart type mismatch</a:t>
            </a:r>
          </a:p>
        </p:txBody>
      </p:sp>
      <p:sp>
        <p:nvSpPr>
          <p:cNvPr id="35" name="Shape 33"/>
          <p:cNvSpPr/>
          <p:nvPr/>
        </p:nvSpPr>
        <p:spPr>
          <a:xfrm>
            <a:off x="411480" y="3002591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242B3D"/>
          </a:solidFill>
          <a:ln w="6350">
            <a:solidFill>
              <a:srgbClr val="2E36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6072" y="3066599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 Automation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76072" y="327691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 recorded to automate filter clearing and improve dashboard usability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Tools Used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3199467" cy="20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stack powering this end-to-end analysis</a:t>
            </a:r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1524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Microsoft Excel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Power Query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257175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261747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VBA Macro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990313-30BA-D067-BCBF-DEC11EB73CBA}"/>
              </a:ext>
            </a:extLst>
          </p:cNvPr>
          <p:cNvSpPr txBox="1"/>
          <p:nvPr/>
        </p:nvSpPr>
        <p:spPr>
          <a:xfrm>
            <a:off x="261257" y="341209"/>
            <a:ext cx="813726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View the full project on GitHub: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https://github.com/Princess-Okere/Student-Lifestyle-and-Academic-Performance-Analysis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Includes: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Working Excel file | Full analysis | Interactive dashboard | README documentation</a:t>
            </a:r>
            <a:endParaRPr lang="en-NG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E6256-6B3F-07E9-8917-4AC505CD5108}"/>
              </a:ext>
            </a:extLst>
          </p:cNvPr>
          <p:cNvSpPr txBox="1"/>
          <p:nvPr/>
        </p:nvSpPr>
        <p:spPr>
          <a:xfrm>
            <a:off x="6110580" y="4249971"/>
            <a:ext cx="2287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Princess Ohiri-Okere</a:t>
            </a:r>
            <a:endParaRPr lang="en-NG" sz="14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D2785D-38C7-B852-F838-5AFED0FC2EAF}"/>
              </a:ext>
            </a:extLst>
          </p:cNvPr>
          <p:cNvCxnSpPr>
            <a:cxnSpLocks/>
          </p:cNvCxnSpPr>
          <p:nvPr/>
        </p:nvCxnSpPr>
        <p:spPr>
          <a:xfrm flipV="1">
            <a:off x="6185225" y="4521812"/>
            <a:ext cx="1825254" cy="722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75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762</Words>
  <Application>Microsoft Office PowerPoint</Application>
  <PresentationFormat>On-screen Show (16:9)</PresentationFormat>
  <Paragraphs>117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Lifestyle &amp; Academic Performance Analysis</dc:title>
  <dc:subject>PptxGenJS Presentation</dc:subject>
  <dc:creator>Princess Ohiri-Okere</dc:creator>
  <cp:lastModifiedBy>princessokere2@gmail.com</cp:lastModifiedBy>
  <cp:revision>2</cp:revision>
  <dcterms:created xsi:type="dcterms:W3CDTF">2026-06-29T10:04:20Z</dcterms:created>
  <dcterms:modified xsi:type="dcterms:W3CDTF">2026-06-29T12:15:44Z</dcterms:modified>
</cp:coreProperties>
</file>